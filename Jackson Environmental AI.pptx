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7e4cecd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a17e4cecdd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7e4cecdd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a17e4cecdd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7e4cecdd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a17e4cecdd_2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7e4cecdd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a17e4cecdd_2_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7e4cecdd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a17e4cecdd_2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7e4cecdd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a17e4cecdd_2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7e4cecdd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a17e4cecdd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17e4cecdd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17e4cecdd_2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7e4cecdd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17e4cecdd_2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9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9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5200">
                <a:solidFill>
                  <a:schemeClr val="dk2"/>
                </a:solidFill>
              </a:rPr>
              <a:t>Jackson Environmental AI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457200" y="3931569"/>
            <a:ext cx="82296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chemeClr val="dk2"/>
                </a:solidFill>
                <a:highlight>
                  <a:schemeClr val="lt1"/>
                </a:highlight>
              </a:rPr>
              <a:t>Predicting Water Quality &amp; Air Quality Risks Before They Happen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chemeClr val="dk2"/>
                </a:solidFill>
                <a:highlight>
                  <a:schemeClr val="lt1"/>
                </a:highlight>
              </a:rPr>
              <a:t>Protecting communities with smart, real-time AI insights.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The Problem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Communities face rapid environmental threats: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Sudden Decines in water quality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Poor air quality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Slow or unclear alerts</a:t>
            </a:r>
            <a:endParaRPr/>
          </a:p>
          <a:p>
            <a:pPr indent="0" lvl="0" marL="152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Vulnerable groups are hit the hardest.</a:t>
            </a:r>
            <a:endParaRPr/>
          </a:p>
        </p:txBody>
      </p:sp>
      <p:sp>
        <p:nvSpPr>
          <p:cNvPr id="137" name="Google Shape;137;p26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Our Solution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Environmental AI analyzes real-time data to predict: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 Water quality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 Air quality decline</a:t>
            </a:r>
            <a:endParaRPr sz="2400">
              <a:solidFill>
                <a:srgbClr val="FFFFF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Then sends simple, actionable alerts.</a:t>
            </a:r>
            <a:endParaRPr/>
          </a:p>
        </p:txBody>
      </p:sp>
      <p:sp>
        <p:nvSpPr>
          <p:cNvPr id="146" name="Google Shape;146;p27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How It Works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Data Sources: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NWS – rainfall, storms, wind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USGS – river &amp; creek levels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NASA FIRMS – wildfire detections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AirNow – air quality (PM2.5, ozone)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Drought Monitor – dryness indicators</a:t>
            </a:r>
            <a:endParaRPr sz="2400">
              <a:solidFill>
                <a:srgbClr val="FFFFF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AI fuses these signals → predicts risk → recommends actions.</a:t>
            </a: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33625" y="439720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Community Impact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Environmental AI helps by: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 Delivering earlier warnings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Reducing property damage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 Protecting health (asthma, elderly)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 Guiding first responders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en" sz="2400">
                <a:solidFill>
                  <a:srgbClr val="FFFFFF"/>
                </a:solidFill>
              </a:rPr>
              <a:t>Increasing disaster resilience</a:t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Why It Matters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Supports vulnerable neighborhoods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Scales to any city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Low cost, high community benefits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Environmental AI saves lives and protects communities.</a:t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</a:rPr>
              <a:t>Environmental AI: App Demonstration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Water &amp; air quality predictions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Real-time alerts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• Recommended safety actions</a:t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358370" y="1027502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Environmental AI</a:t>
            </a:r>
            <a:r>
              <a:rPr b="1" lang="en" sz="3800">
                <a:solidFill>
                  <a:srgbClr val="FFFFFF"/>
                </a:solidFill>
              </a:rPr>
              <a:t>:</a:t>
            </a: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System Flow</a:t>
            </a:r>
            <a:endParaRPr/>
          </a:p>
        </p:txBody>
      </p:sp>
      <p:sp>
        <p:nvSpPr>
          <p:cNvPr id="188" name="Google Shape;188;p32"/>
          <p:cNvSpPr/>
          <p:nvPr/>
        </p:nvSpPr>
        <p:spPr>
          <a:xfrm>
            <a:off x="139845" y="1917875"/>
            <a:ext cx="2743200" cy="61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2147"/>
                </a:solidFill>
                <a:latin typeface="Arial"/>
                <a:ea typeface="Arial"/>
                <a:cs typeface="Arial"/>
                <a:sym typeface="Arial"/>
              </a:rPr>
              <a:t>Weather + Air Data</a:t>
            </a: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3333865" y="1954650"/>
            <a:ext cx="2743200" cy="61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2147"/>
                </a:solidFill>
                <a:latin typeface="Arial"/>
                <a:ea typeface="Arial"/>
                <a:cs typeface="Arial"/>
                <a:sym typeface="Arial"/>
              </a:rPr>
              <a:t>Environmental AI Engine</a:t>
            </a:r>
            <a:endParaRPr/>
          </a:p>
        </p:txBody>
      </p:sp>
      <p:sp>
        <p:nvSpPr>
          <p:cNvPr id="190" name="Google Shape;190;p32"/>
          <p:cNvSpPr/>
          <p:nvPr/>
        </p:nvSpPr>
        <p:spPr>
          <a:xfrm>
            <a:off x="6317785" y="1917813"/>
            <a:ext cx="2743200" cy="61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2147"/>
                </a:solidFill>
                <a:latin typeface="Arial"/>
                <a:ea typeface="Arial"/>
                <a:cs typeface="Arial"/>
                <a:sym typeface="Arial"/>
              </a:rPr>
              <a:t>Alerts to Community</a:t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27432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87CE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193" name="Google Shape;193;p32"/>
          <p:cNvSpPr/>
          <p:nvPr/>
        </p:nvSpPr>
        <p:spPr>
          <a:xfrm>
            <a:off x="1371600" y="137160"/>
            <a:ext cx="914400" cy="685800"/>
          </a:xfrm>
          <a:prstGeom prst="trapezoid">
            <a:avLst>
              <a:gd fmla="val 25000" name="adj"/>
            </a:avLst>
          </a:prstGeom>
          <a:solidFill>
            <a:srgbClr val="ADD8E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ctrTitle"/>
          </p:nvPr>
        </p:nvSpPr>
        <p:spPr>
          <a:xfrm>
            <a:off x="408450" y="850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7368"/>
              <a:buNone/>
            </a:pPr>
            <a:r>
              <a:rPr b="1" lang="en" sz="3800">
                <a:solidFill>
                  <a:srgbClr val="FFFFFF"/>
                </a:solidFill>
              </a:rPr>
              <a:t>Jackson </a:t>
            </a:r>
            <a:r>
              <a:rPr b="1" lang="en" sz="3800">
                <a:solidFill>
                  <a:srgbClr val="FFFFFF"/>
                </a:solidFill>
              </a:rPr>
              <a:t>Environmental AI: How It Works </a:t>
            </a:r>
            <a:endParaRPr b="1" sz="3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7368"/>
              <a:buNone/>
            </a:pPr>
            <a:r>
              <a:rPr b="1" lang="en" sz="3800">
                <a:solidFill>
                  <a:srgbClr val="FFFFFF"/>
                </a:solidFill>
              </a:rPr>
              <a:t>(Demo)</a:t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0" y="4320550"/>
            <a:ext cx="9144000" cy="822900"/>
          </a:xfrm>
          <a:prstGeom prst="rect">
            <a:avLst/>
          </a:prstGeom>
          <a:solidFill>
            <a:srgbClr val="87CEFA"/>
          </a:solidFill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" y="1187525"/>
            <a:ext cx="4480025" cy="33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 title="IMG_1093.jpeg"/>
          <p:cNvPicPr preferRelativeResize="0"/>
          <p:nvPr/>
        </p:nvPicPr>
        <p:blipFill rotWithShape="1">
          <a:blip r:embed="rId4">
            <a:alphaModFix/>
          </a:blip>
          <a:srcRect b="0" l="0" r="14813" t="16184"/>
          <a:stretch/>
        </p:blipFill>
        <p:spPr>
          <a:xfrm>
            <a:off x="4572000" y="1187525"/>
            <a:ext cx="4572000" cy="3357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